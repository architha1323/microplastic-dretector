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7" r:id="rId3"/>
  </p:sldIdLst>
  <p:sldSz cx="18288000" cy="10287000"/>
  <p:notesSz cx="6858000" cy="9144000"/>
  <p:embeddedFontLst>
    <p:embeddedFont>
      <p:font typeface="Calibri" panose="020F0502020204030204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 showGuides="1">
      <p:cViewPr varScale="1">
        <p:scale>
          <a:sx n="45" d="100"/>
          <a:sy n="45" d="100"/>
        </p:scale>
        <p:origin x="-86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font" Target="fonts/font4.fntdata"/><Relationship Id="rId10" Type="http://schemas.openxmlformats.org/officeDocument/2006/relationships/font" Target="fonts/font3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34660F-DDFE-4D46-B017-74E0E8D13FEB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52462-75FD-4947-8598-201FD05D7BF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A52462-75FD-4947-8598-201FD05D7BF8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5" Type="http://schemas.openxmlformats.org/officeDocument/2006/relationships/notesSlide" Target="../notesSlides/notesSlide1.xml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23.png"/><Relationship Id="rId22" Type="http://schemas.openxmlformats.org/officeDocument/2006/relationships/image" Target="../media/image22.jpeg"/><Relationship Id="rId21" Type="http://schemas.openxmlformats.org/officeDocument/2006/relationships/image" Target="../media/image21.sv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96242" y="2552700"/>
            <a:ext cx="12348558" cy="7472903"/>
          </a:xfrm>
          <a:custGeom>
            <a:avLst/>
            <a:gdLst/>
            <a:ahLst/>
            <a:cxnLst/>
            <a:rect l="l" t="t" r="r" b="b"/>
            <a:pathLst>
              <a:path w="14037441" h="9369992">
                <a:moveTo>
                  <a:pt x="0" y="0"/>
                </a:moveTo>
                <a:lnTo>
                  <a:pt x="14037440" y="0"/>
                </a:lnTo>
                <a:lnTo>
                  <a:pt x="14037440" y="9369992"/>
                </a:lnTo>
                <a:lnTo>
                  <a:pt x="0" y="936999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object 8"/>
          <p:cNvSpPr/>
          <p:nvPr/>
        </p:nvSpPr>
        <p:spPr>
          <a:xfrm>
            <a:off x="254506" y="114299"/>
            <a:ext cx="17817085" cy="1904999"/>
          </a:xfrm>
          <a:custGeom>
            <a:avLst/>
            <a:gdLst/>
            <a:ahLst/>
            <a:cxnLst/>
            <a:rect l="l" t="t" r="r" b="b"/>
            <a:pathLst>
              <a:path w="14694535" h="1619250">
                <a:moveTo>
                  <a:pt x="14694408" y="0"/>
                </a:moveTo>
                <a:lnTo>
                  <a:pt x="14694408" y="0"/>
                </a:lnTo>
                <a:lnTo>
                  <a:pt x="0" y="0"/>
                </a:lnTo>
                <a:lnTo>
                  <a:pt x="0" y="36576"/>
                </a:lnTo>
                <a:lnTo>
                  <a:pt x="0" y="115824"/>
                </a:lnTo>
                <a:lnTo>
                  <a:pt x="0" y="1619123"/>
                </a:lnTo>
                <a:lnTo>
                  <a:pt x="36563" y="1619123"/>
                </a:lnTo>
                <a:lnTo>
                  <a:pt x="36563" y="115824"/>
                </a:lnTo>
                <a:lnTo>
                  <a:pt x="36563" y="36576"/>
                </a:lnTo>
                <a:lnTo>
                  <a:pt x="109728" y="36576"/>
                </a:lnTo>
                <a:lnTo>
                  <a:pt x="14657832" y="36576"/>
                </a:lnTo>
                <a:lnTo>
                  <a:pt x="14657832" y="115824"/>
                </a:lnTo>
                <a:lnTo>
                  <a:pt x="14657832" y="1619123"/>
                </a:lnTo>
                <a:lnTo>
                  <a:pt x="14694408" y="1619123"/>
                </a:lnTo>
                <a:lnTo>
                  <a:pt x="14694408" y="115824"/>
                </a:lnTo>
                <a:lnTo>
                  <a:pt x="14694408" y="36576"/>
                </a:lnTo>
                <a:lnTo>
                  <a:pt x="14694408" y="0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/>
        </p:txBody>
      </p:sp>
      <p:cxnSp>
        <p:nvCxnSpPr>
          <p:cNvPr id="4" name="Straight Connector 3"/>
          <p:cNvCxnSpPr/>
          <p:nvPr/>
        </p:nvCxnSpPr>
        <p:spPr>
          <a:xfrm>
            <a:off x="6096000" y="114300"/>
            <a:ext cx="0" cy="1481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3487400" y="114300"/>
            <a:ext cx="0" cy="1481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96000" y="1595477"/>
            <a:ext cx="7391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54506" y="2019300"/>
            <a:ext cx="177789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943600" y="130267"/>
            <a:ext cx="0" cy="18890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13639800" y="146244"/>
            <a:ext cx="0" cy="18730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86195" y="87757"/>
            <a:ext cx="46481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u="sng"/>
              <a:t>Team Members </a:t>
            </a:r>
            <a:endParaRPr lang="en-IN" sz="2800" b="1" u="sng"/>
          </a:p>
          <a:p>
            <a:endParaRPr lang="en-IN"/>
          </a:p>
        </p:txBody>
      </p:sp>
      <p:sp>
        <p:nvSpPr>
          <p:cNvPr id="43" name="TextBox 42"/>
          <p:cNvSpPr txBox="1"/>
          <p:nvPr/>
        </p:nvSpPr>
        <p:spPr>
          <a:xfrm>
            <a:off x="463445" y="570380"/>
            <a:ext cx="46481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1.25885A6615 -  Bollela Tejasri</a:t>
            </a:r>
            <a:br>
              <a:rPr lang="en-IN" b="1"/>
            </a:br>
            <a:r>
              <a:rPr lang="en-IN" b="1"/>
              <a:t>2. </a:t>
            </a:r>
            <a:r>
              <a:rPr lang="en-IN" b="1">
                <a:sym typeface="+mn-ea"/>
              </a:rPr>
              <a:t>25885A6616</a:t>
            </a:r>
            <a:r>
              <a:rPr lang="en-IN" b="1"/>
              <a:t>-  Bommera Shiva</a:t>
            </a:r>
            <a:br>
              <a:rPr lang="en-IN" b="1"/>
            </a:br>
            <a:r>
              <a:rPr lang="en-IN" b="1"/>
              <a:t>3. </a:t>
            </a:r>
            <a:r>
              <a:rPr lang="en-IN" b="1">
                <a:sym typeface="+mn-ea"/>
              </a:rPr>
              <a:t>25885A6618</a:t>
            </a:r>
            <a:r>
              <a:rPr lang="en-IN" b="1"/>
              <a:t>-  Pawar Anil</a:t>
            </a:r>
            <a:br>
              <a:rPr lang="en-IN" b="1"/>
            </a:br>
            <a:r>
              <a:rPr lang="en-IN" b="1"/>
              <a:t>4. </a:t>
            </a:r>
            <a:r>
              <a:rPr lang="en-IN" b="1">
                <a:sym typeface="+mn-ea"/>
              </a:rPr>
              <a:t>25885A6619</a:t>
            </a:r>
            <a:r>
              <a:rPr lang="en-IN" b="1"/>
              <a:t>-  Rampalli Architha</a:t>
            </a:r>
            <a:endParaRPr lang="en-IN" b="1"/>
          </a:p>
        </p:txBody>
      </p:sp>
      <p:sp>
        <p:nvSpPr>
          <p:cNvPr id="44" name="TextBox 43"/>
          <p:cNvSpPr txBox="1"/>
          <p:nvPr/>
        </p:nvSpPr>
        <p:spPr>
          <a:xfrm>
            <a:off x="457200" y="1640896"/>
            <a:ext cx="6553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Department Of 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Computer Science Engineering (AI &amp; M</a:t>
            </a:r>
            <a:r>
              <a:rPr lang="en-IN" altLang="en-US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L</a:t>
            </a:r>
            <a:r>
              <a:rPr lang="en-US" altLang="en-US" b="1" dirty="0">
                <a:solidFill>
                  <a:schemeClr val="tx2">
                    <a:lumMod val="75000"/>
                  </a:schemeClr>
                </a:solidFill>
                <a:latin typeface="+mj-lt"/>
                <a:cs typeface="+mj-lt"/>
              </a:rPr>
              <a:t>)</a:t>
            </a:r>
            <a:endParaRPr lang="en-US" altLang="en-US" b="1" dirty="0">
              <a:solidFill>
                <a:schemeClr val="tx2">
                  <a:lumMod val="7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86400" y="1557724"/>
            <a:ext cx="8839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A8027-TECHNOLOGY ENTREPRENEURSHIP-2K25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502385" y="87757"/>
            <a:ext cx="3733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/>
              <a:t>Faculty Mentors</a:t>
            </a:r>
            <a:endParaRPr lang="en-IN" sz="2800" b="1" u="sng"/>
          </a:p>
        </p:txBody>
      </p:sp>
      <p:sp>
        <p:nvSpPr>
          <p:cNvPr id="50" name="TextBox 49"/>
          <p:cNvSpPr txBox="1"/>
          <p:nvPr/>
        </p:nvSpPr>
        <p:spPr>
          <a:xfrm>
            <a:off x="13677904" y="743632"/>
            <a:ext cx="447833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</a:t>
            </a:r>
            <a:r>
              <a:rPr lang="en-US" b="1">
                <a:solidFill>
                  <a:schemeClr val="dk1"/>
                </a:solidFill>
                <a:latin typeface="Calibri" panose="020F0502020204030204" charset="0"/>
                <a:ea typeface="Barlow" panose="00000500000000000000"/>
                <a:cs typeface="Calibri" panose="020F0502020204030204" charset="0"/>
                <a:sym typeface="Barlow" panose="00000500000000000000"/>
              </a:rPr>
              <a:t>Mr. G Krishna Teja</a:t>
            </a:r>
            <a:r>
              <a:rPr lang="en-IN" b="1" dirty="0" err="1"/>
              <a:t>,Assistant</a:t>
            </a:r>
            <a:r>
              <a:rPr lang="en-IN" b="1" dirty="0"/>
              <a:t> </a:t>
            </a:r>
            <a:r>
              <a:rPr lang="en-IN" b="1" dirty="0" err="1"/>
              <a:t>Professor,ME</a:t>
            </a:r>
            <a:endParaRPr lang="en-IN" b="1" dirty="0"/>
          </a:p>
          <a:p>
            <a:r>
              <a:rPr lang="en-IN" b="1" dirty="0"/>
              <a:t>2.</a:t>
            </a:r>
            <a:r>
              <a:rPr lang="en-US" b="1">
                <a:solidFill>
                  <a:schemeClr val="dk1"/>
                </a:solidFill>
                <a:latin typeface="Calibri" panose="020F0502020204030204" charset="0"/>
                <a:ea typeface="Barlow" panose="00000500000000000000"/>
                <a:cs typeface="Calibri" panose="020F0502020204030204" charset="0"/>
                <a:sym typeface="Barlow" panose="00000500000000000000"/>
              </a:rPr>
              <a:t>Ms.Sirisha</a:t>
            </a:r>
            <a:r>
              <a:rPr lang="en-IN" b="1" dirty="0" err="1" smtClean="0"/>
              <a:t>,Assistant</a:t>
            </a:r>
            <a:r>
              <a:rPr lang="en-IN" b="1" dirty="0" smtClean="0"/>
              <a:t> </a:t>
            </a:r>
            <a:r>
              <a:rPr lang="en-IN" b="1" dirty="0" err="1"/>
              <a:t>Proffessor,ECE</a:t>
            </a:r>
            <a:endParaRPr lang="en-IN" b="1" dirty="0"/>
          </a:p>
        </p:txBody>
      </p:sp>
      <p:cxnSp>
        <p:nvCxnSpPr>
          <p:cNvPr id="52" name="Straight Connector 51"/>
          <p:cNvCxnSpPr/>
          <p:nvPr/>
        </p:nvCxnSpPr>
        <p:spPr>
          <a:xfrm>
            <a:off x="254506" y="2019298"/>
            <a:ext cx="0" cy="79248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18033488" y="2019296"/>
            <a:ext cx="0" cy="79429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Straight Connector 1026"/>
          <p:cNvCxnSpPr/>
          <p:nvPr/>
        </p:nvCxnSpPr>
        <p:spPr>
          <a:xfrm>
            <a:off x="254506" y="201022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1031"/>
          <p:cNvCxnSpPr/>
          <p:nvPr/>
        </p:nvCxnSpPr>
        <p:spPr>
          <a:xfrm flipH="1">
            <a:off x="228600" y="10020300"/>
            <a:ext cx="17778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8" name="TextBox 1037"/>
          <p:cNvSpPr txBox="1"/>
          <p:nvPr/>
        </p:nvSpPr>
        <p:spPr>
          <a:xfrm>
            <a:off x="6138325" y="1177142"/>
            <a:ext cx="739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/>
              <a:t>Community Innovation and Transformation</a:t>
            </a:r>
            <a:endParaRPr lang="en-IN" sz="2400" b="1"/>
          </a:p>
        </p:txBody>
      </p:sp>
      <p:cxnSp>
        <p:nvCxnSpPr>
          <p:cNvPr id="1039" name="Straight Connector 1038"/>
          <p:cNvCxnSpPr/>
          <p:nvPr/>
        </p:nvCxnSpPr>
        <p:spPr>
          <a:xfrm flipH="1">
            <a:off x="254505" y="2431418"/>
            <a:ext cx="177789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Connector 1039"/>
          <p:cNvCxnSpPr/>
          <p:nvPr/>
        </p:nvCxnSpPr>
        <p:spPr>
          <a:xfrm rot="16200000" flipH="1">
            <a:off x="1706708" y="6211110"/>
            <a:ext cx="7588882" cy="294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4" name="Straight Connector 1043"/>
          <p:cNvCxnSpPr/>
          <p:nvPr/>
        </p:nvCxnSpPr>
        <p:spPr>
          <a:xfrm rot="5400000">
            <a:off x="8471716" y="6209761"/>
            <a:ext cx="7607023" cy="140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7" name="Straight Connector 1046"/>
          <p:cNvCxnSpPr/>
          <p:nvPr/>
        </p:nvCxnSpPr>
        <p:spPr>
          <a:xfrm flipH="1">
            <a:off x="254505" y="5143500"/>
            <a:ext cx="58881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TextBox 1049"/>
          <p:cNvSpPr txBox="1"/>
          <p:nvPr/>
        </p:nvSpPr>
        <p:spPr>
          <a:xfrm>
            <a:off x="355855" y="2485775"/>
            <a:ext cx="396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solidFill>
                  <a:schemeClr val="accent2"/>
                </a:solidFill>
              </a:rPr>
              <a:t>Objectives of the Project :</a:t>
            </a:r>
            <a:endParaRPr lang="en-IN" sz="2400" b="1">
              <a:solidFill>
                <a:schemeClr val="accent2"/>
              </a:solidFill>
            </a:endParaRPr>
          </a:p>
        </p:txBody>
      </p:sp>
      <p:sp>
        <p:nvSpPr>
          <p:cNvPr id="1053" name="Rectangle 4"/>
          <p:cNvSpPr>
            <a:spLocks noChangeArrowheads="1"/>
          </p:cNvSpPr>
          <p:nvPr/>
        </p:nvSpPr>
        <p:spPr bwMode="auto">
          <a:xfrm>
            <a:off x="457114" y="2898340"/>
            <a:ext cx="4921336" cy="2061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low-cost microplastic detection system using Arduino and optical sensors.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light scattering principles to quantify microplastic concentration in water.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real-time data display through an LCD interface for immediate assessment.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DIY-friendly setup to promote citizen science and environmental awareness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56" name="TextBox 1055"/>
          <p:cNvSpPr txBox="1"/>
          <p:nvPr/>
        </p:nvSpPr>
        <p:spPr>
          <a:xfrm>
            <a:off x="336463" y="5139137"/>
            <a:ext cx="396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Community Partner Details :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sp>
        <p:nvSpPr>
          <p:cNvPr id="1057" name="Rectangle 4"/>
          <p:cNvSpPr>
            <a:spLocks noChangeArrowheads="1"/>
          </p:cNvSpPr>
          <p:nvPr/>
        </p:nvSpPr>
        <p:spPr bwMode="auto">
          <a:xfrm>
            <a:off x="381000" y="5448300"/>
            <a:ext cx="5917565" cy="133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Name: Dhruvansh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Profession: Environmental non-profit NGO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Address: 60,Pragati Resort, Chilkur Balaji Road,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Shankarpalli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Contact details: +918465034598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58" name="Straight Connector 1057"/>
          <p:cNvCxnSpPr/>
          <p:nvPr/>
        </p:nvCxnSpPr>
        <p:spPr>
          <a:xfrm rot="10800000">
            <a:off x="254506" y="6743700"/>
            <a:ext cx="5231895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0" name="TextBox 1059"/>
          <p:cNvSpPr txBox="1"/>
          <p:nvPr/>
        </p:nvSpPr>
        <p:spPr>
          <a:xfrm>
            <a:off x="332161" y="6771679"/>
            <a:ext cx="396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SDG’s Covered :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pic>
        <p:nvPicPr>
          <p:cNvPr id="1062" name="Picture 8" descr="Sustainable Development Goal 9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7200900"/>
            <a:ext cx="1101090" cy="108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65" name="Straight Connector 1064"/>
          <p:cNvCxnSpPr/>
          <p:nvPr/>
        </p:nvCxnSpPr>
        <p:spPr>
          <a:xfrm flipH="1">
            <a:off x="6140595" y="5139137"/>
            <a:ext cx="61592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8" name="TextBox 1067"/>
          <p:cNvSpPr txBox="1"/>
          <p:nvPr/>
        </p:nvSpPr>
        <p:spPr>
          <a:xfrm>
            <a:off x="5562601" y="2490137"/>
            <a:ext cx="4540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Need Statement :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sp>
        <p:nvSpPr>
          <p:cNvPr id="1070" name="Rectangle 4"/>
          <p:cNvSpPr>
            <a:spLocks noChangeArrowheads="1"/>
          </p:cNvSpPr>
          <p:nvPr/>
        </p:nvSpPr>
        <p:spPr bwMode="auto">
          <a:xfrm>
            <a:off x="5609590" y="2898387"/>
            <a:ext cx="6517790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Microplastic pollution is invisible, harmful, and hard to detect with conventional tools.Existing detection methods are expensive and inaccessible to most communities.Our project introduces a low-cost, Arduino-based system using laser scattering.It detects microplastics in real time and displays results on an LCD screen.The setup is DIY-friendly, portable, and ideal for citizen science initiatives.This empowers users to monitor water quality and respond to pollution quickly.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4" name="TextBox 1073"/>
          <p:cNvSpPr txBox="1"/>
          <p:nvPr/>
        </p:nvSpPr>
        <p:spPr>
          <a:xfrm>
            <a:off x="5943600" y="5147140"/>
            <a:ext cx="427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Solution :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sp>
        <p:nvSpPr>
          <p:cNvPr id="1078" name="Rectangle 11"/>
          <p:cNvSpPr>
            <a:spLocks noChangeArrowheads="1"/>
          </p:cNvSpPr>
          <p:nvPr/>
        </p:nvSpPr>
        <p:spPr bwMode="auto">
          <a:xfrm>
            <a:off x="5791200" y="5524990"/>
            <a:ext cx="6544048" cy="279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concentration display for instant water quality feedback.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Dual-sensor setup enhances detection accuracy and sensitivity.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DIY-friendly design promotes citizen science and accessibility.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Portable system suitable for field testing and rapid deployment.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reliance on expensive lab equipment and complex analysis.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environmental awareness and early pollution response.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81" name="Straight Connector 1080"/>
          <p:cNvCxnSpPr/>
          <p:nvPr/>
        </p:nvCxnSpPr>
        <p:spPr>
          <a:xfrm flipH="1">
            <a:off x="12268043" y="4814015"/>
            <a:ext cx="57654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2" name="TextBox 1081"/>
          <p:cNvSpPr txBox="1"/>
          <p:nvPr/>
        </p:nvSpPr>
        <p:spPr>
          <a:xfrm>
            <a:off x="12393708" y="2479812"/>
            <a:ext cx="396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solidFill>
                  <a:schemeClr val="accent2"/>
                </a:solidFill>
              </a:rPr>
              <a:t>Product Picture :</a:t>
            </a:r>
            <a:endParaRPr lang="en-IN" sz="2400" b="1">
              <a:solidFill>
                <a:schemeClr val="accent2"/>
              </a:solidFill>
            </a:endParaRPr>
          </a:p>
        </p:txBody>
      </p:sp>
      <p:cxnSp>
        <p:nvCxnSpPr>
          <p:cNvPr id="1086" name="Straight Connector 1085"/>
          <p:cNvCxnSpPr/>
          <p:nvPr/>
        </p:nvCxnSpPr>
        <p:spPr>
          <a:xfrm flipH="1">
            <a:off x="12283925" y="6196829"/>
            <a:ext cx="573367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8" name="TextBox 1087"/>
          <p:cNvSpPr txBox="1"/>
          <p:nvPr/>
        </p:nvSpPr>
        <p:spPr>
          <a:xfrm>
            <a:off x="12360803" y="4779986"/>
            <a:ext cx="396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solidFill>
                  <a:schemeClr val="accent2"/>
                </a:solidFill>
              </a:rPr>
              <a:t>Resources Used :</a:t>
            </a:r>
            <a:endParaRPr lang="en-IN" sz="2400" b="1">
              <a:solidFill>
                <a:schemeClr val="accent2"/>
              </a:solidFill>
            </a:endParaRPr>
          </a:p>
        </p:txBody>
      </p:sp>
      <p:sp>
        <p:nvSpPr>
          <p:cNvPr id="1090" name="TextBox 1089"/>
          <p:cNvSpPr txBox="1"/>
          <p:nvPr/>
        </p:nvSpPr>
        <p:spPr>
          <a:xfrm>
            <a:off x="12360910" y="9465945"/>
            <a:ext cx="588899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en-US" sz="16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https://drive.google.com/file/d/1eWBv0yzaJQyocK-8XGe1-mDdTP9fYbIZ/view?usp=sharing</a:t>
            </a:r>
            <a:endParaRPr lang="en-US" altLang="en-US" sz="1600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2" name="TextBox 1091"/>
          <p:cNvSpPr txBox="1"/>
          <p:nvPr/>
        </p:nvSpPr>
        <p:spPr>
          <a:xfrm>
            <a:off x="12375554" y="6207686"/>
            <a:ext cx="396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solidFill>
                  <a:schemeClr val="accent2"/>
                </a:solidFill>
              </a:rPr>
              <a:t>Published or Patented :</a:t>
            </a:r>
            <a:endParaRPr lang="en-IN" sz="2400" b="1">
              <a:solidFill>
                <a:schemeClr val="accent2"/>
              </a:solidFill>
            </a:endParaRPr>
          </a:p>
        </p:txBody>
      </p:sp>
      <p:cxnSp>
        <p:nvCxnSpPr>
          <p:cNvPr id="1093" name="Straight Connector 1092"/>
          <p:cNvCxnSpPr/>
          <p:nvPr/>
        </p:nvCxnSpPr>
        <p:spPr>
          <a:xfrm flipH="1">
            <a:off x="12268043" y="7025142"/>
            <a:ext cx="57654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5" name="TextBox 1094"/>
          <p:cNvSpPr txBox="1"/>
          <p:nvPr/>
        </p:nvSpPr>
        <p:spPr>
          <a:xfrm>
            <a:off x="12388240" y="6661293"/>
            <a:ext cx="58298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>
                <a:latin typeface="Arial" panose="020B0604020202020204" pitchFamily="34" charset="0"/>
                <a:cs typeface="Arial" panose="020B0604020202020204" pitchFamily="34" charset="0"/>
              </a:rPr>
              <a:t>Paper and Patented Applied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6" name="TextBox 1095"/>
          <p:cNvSpPr txBox="1"/>
          <p:nvPr/>
        </p:nvSpPr>
        <p:spPr>
          <a:xfrm>
            <a:off x="12389906" y="7002511"/>
            <a:ext cx="396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solidFill>
                  <a:schemeClr val="accent2"/>
                </a:solidFill>
              </a:rPr>
              <a:t>Outcomes :</a:t>
            </a:r>
            <a:endParaRPr lang="en-IN" sz="2400" b="1">
              <a:solidFill>
                <a:schemeClr val="accent2"/>
              </a:solidFill>
            </a:endParaRPr>
          </a:p>
        </p:txBody>
      </p:sp>
      <p:sp>
        <p:nvSpPr>
          <p:cNvPr id="1098" name="Rectangle 12"/>
          <p:cNvSpPr>
            <a:spLocks noChangeArrowheads="1"/>
          </p:cNvSpPr>
          <p:nvPr/>
        </p:nvSpPr>
        <p:spPr bwMode="auto">
          <a:xfrm>
            <a:off x="12419965" y="7334885"/>
            <a:ext cx="4468495" cy="2131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Affordable Microplastic Detection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Real-Time Water Quality Monitoring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Enhanced Environmental Awareness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DIY-Friendly and Portable Design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Accurate Optical Sensing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Empowers Citizen Science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Supports Sustainable Water Management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95600" y="2019300"/>
            <a:ext cx="12033250" cy="436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>
                <a:solidFill>
                  <a:srgbClr val="2E3C4E"/>
                </a:solidFill>
                <a:latin typeface="+mj-lt"/>
                <a:ea typeface="Barlow" panose="00000500000000000000"/>
                <a:cs typeface="+mj-lt"/>
                <a:sym typeface="Barlow" panose="00000500000000000000"/>
              </a:rPr>
              <a:t>Microplastic Detection in Water using Arduino-Based Laser Scattering</a:t>
            </a:r>
            <a:endParaRPr lang="en-IN" sz="2400" b="1">
              <a:latin typeface="+mj-lt"/>
              <a:cs typeface="+mj-lt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12252160" y="9117786"/>
            <a:ext cx="57654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417394" y="9081703"/>
            <a:ext cx="414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Product Execution Video Link :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51496" y="5094404"/>
            <a:ext cx="5829897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Hardware:  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Arduino UNO (Microcontroller</a:t>
            </a:r>
            <a:r>
              <a:rPr lang="en-I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Laser Diode Module (5V)</a:t>
            </a:r>
            <a:endParaRPr lang="en-US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LDR Sensor Module</a:t>
            </a:r>
            <a:r>
              <a:rPr lang="en-I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Breadboard &amp; Jumper Wires</a:t>
            </a:r>
            <a:r>
              <a:rPr lang="en-IN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Software &amp; Simulation: </a:t>
            </a:r>
            <a:r>
              <a:rPr lang="en-US" sz="1600" b="1">
                <a:solidFill>
                  <a:srgbClr val="384653"/>
                </a:solidFill>
                <a:latin typeface="Arial" panose="020B0604020202020204" pitchFamily="34" charset="0"/>
                <a:ea typeface="Barlow" panose="00000500000000000000"/>
                <a:cs typeface="Arial" panose="020B0604020202020204" pitchFamily="34" charset="0"/>
                <a:sym typeface="Barlow" panose="00000500000000000000"/>
              </a:rPr>
              <a:t>Arduino</a:t>
            </a:r>
            <a:r>
              <a:rPr lang="en-IN" altLang="en-US" sz="1600" b="1">
                <a:solidFill>
                  <a:srgbClr val="384653"/>
                </a:solidFill>
                <a:latin typeface="Arial" panose="020B0604020202020204" pitchFamily="34" charset="0"/>
                <a:ea typeface="Barlow" panose="00000500000000000000"/>
                <a:cs typeface="Arial" panose="020B0604020202020204" pitchFamily="34" charset="0"/>
                <a:sym typeface="Barlow" panose="00000500000000000000"/>
              </a:rPr>
              <a:t> IDE</a:t>
            </a:r>
            <a:endParaRPr lang="en-IN" altLang="en-US" sz="1600" b="1" dirty="0">
              <a:solidFill>
                <a:srgbClr val="384653"/>
              </a:solidFill>
              <a:latin typeface="Arial" panose="020B0604020202020204" pitchFamily="34" charset="0"/>
              <a:ea typeface="Barlow" panose="00000500000000000000"/>
              <a:cs typeface="Arial" panose="020B0604020202020204" pitchFamily="34" charset="0"/>
              <a:sym typeface="Barlow" panose="0000050000000000000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rot="10800000" flipV="1">
            <a:off x="5486401" y="8326312"/>
            <a:ext cx="6807167" cy="17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1000" y="8343900"/>
            <a:ext cx="3962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Cost Analysis :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4800" y="8724900"/>
            <a:ext cx="5815988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UNO-R3 – ₹350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Laser Module – ₹70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LCD (16×2) – ₹50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LDR – ₹40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Jumper Wire – ₹30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" name="Picture 59" descr="vec logo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496800" y="190500"/>
            <a:ext cx="914400" cy="914400"/>
          </a:xfrm>
          <a:prstGeom prst="rect">
            <a:avLst/>
          </a:prstGeom>
        </p:spPr>
      </p:pic>
      <p:pic>
        <p:nvPicPr>
          <p:cNvPr id="61" name="Picture 60" descr="iic logo.jpe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72200" y="190500"/>
            <a:ext cx="914400" cy="914400"/>
          </a:xfrm>
          <a:prstGeom prst="rect">
            <a:avLst/>
          </a:prstGeom>
        </p:spPr>
      </p:pic>
      <p:pic>
        <p:nvPicPr>
          <p:cNvPr id="62" name="Picture 61" descr="vce logo clg.jpe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220200" y="190500"/>
            <a:ext cx="1194362" cy="10668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010400" y="8420100"/>
            <a:ext cx="3429000" cy="4616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b="1" u="sng" dirty="0" smtClean="0">
                <a:solidFill>
                  <a:schemeClr val="accent2"/>
                </a:solidFill>
              </a:rPr>
              <a:t>COMMUNITY PARTNERS</a:t>
            </a:r>
            <a:endParaRPr lang="en-IN" sz="2400" b="1" u="sng" dirty="0">
              <a:solidFill>
                <a:schemeClr val="accent2"/>
              </a:solidFill>
            </a:endParaRPr>
          </a:p>
        </p:txBody>
      </p:sp>
      <p:grpSp>
        <p:nvGrpSpPr>
          <p:cNvPr id="67" name="object 2"/>
          <p:cNvGrpSpPr/>
          <p:nvPr/>
        </p:nvGrpSpPr>
        <p:grpSpPr>
          <a:xfrm>
            <a:off x="5486400" y="8801100"/>
            <a:ext cx="1066800" cy="1295400"/>
            <a:chOff x="391668" y="646175"/>
            <a:chExt cx="1771650" cy="1440180"/>
          </a:xfrm>
        </p:grpSpPr>
        <p:pic>
          <p:nvPicPr>
            <p:cNvPr id="68" name="object 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1668" y="646175"/>
              <a:ext cx="1771650" cy="1440179"/>
            </a:xfrm>
            <a:prstGeom prst="rect">
              <a:avLst/>
            </a:prstGeom>
          </p:spPr>
        </p:pic>
        <p:pic>
          <p:nvPicPr>
            <p:cNvPr id="69" name="object 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5965" y="1001140"/>
              <a:ext cx="1098626" cy="819150"/>
            </a:xfrm>
            <a:prstGeom prst="rect">
              <a:avLst/>
            </a:prstGeom>
          </p:spPr>
        </p:pic>
        <p:sp>
          <p:nvSpPr>
            <p:cNvPr id="70" name="object 5"/>
            <p:cNvSpPr/>
            <p:nvPr/>
          </p:nvSpPr>
          <p:spPr>
            <a:xfrm>
              <a:off x="691515" y="951991"/>
              <a:ext cx="1188085" cy="913130"/>
            </a:xfrm>
            <a:custGeom>
              <a:avLst/>
              <a:gdLst/>
              <a:ahLst/>
              <a:cxnLst/>
              <a:rect l="l" t="t" r="r" b="b"/>
              <a:pathLst>
                <a:path w="1188085" h="913130">
                  <a:moveTo>
                    <a:pt x="225425" y="0"/>
                  </a:moveTo>
                  <a:lnTo>
                    <a:pt x="225425" y="4699"/>
                  </a:lnTo>
                  <a:lnTo>
                    <a:pt x="1187577" y="4699"/>
                  </a:lnTo>
                  <a:lnTo>
                    <a:pt x="1187577" y="734060"/>
                  </a:lnTo>
                  <a:lnTo>
                    <a:pt x="1173480" y="802259"/>
                  </a:lnTo>
                  <a:lnTo>
                    <a:pt x="1134617" y="859917"/>
                  </a:lnTo>
                  <a:lnTo>
                    <a:pt x="1077086" y="898778"/>
                  </a:lnTo>
                  <a:lnTo>
                    <a:pt x="1008760" y="912749"/>
                  </a:lnTo>
                  <a:lnTo>
                    <a:pt x="0" y="912749"/>
                  </a:lnTo>
                  <a:lnTo>
                    <a:pt x="0" y="183388"/>
                  </a:lnTo>
                  <a:lnTo>
                    <a:pt x="3441" y="149225"/>
                  </a:lnTo>
                  <a:lnTo>
                    <a:pt x="30746" y="84327"/>
                  </a:lnTo>
                  <a:lnTo>
                    <a:pt x="79667" y="35433"/>
                  </a:lnTo>
                  <a:lnTo>
                    <a:pt x="144551" y="8127"/>
                  </a:lnTo>
                  <a:lnTo>
                    <a:pt x="225425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6"/>
          <p:cNvGrpSpPr/>
          <p:nvPr/>
        </p:nvGrpSpPr>
        <p:grpSpPr>
          <a:xfrm>
            <a:off x="6400800" y="8846820"/>
            <a:ext cx="1160525" cy="1249680"/>
            <a:chOff x="2264664" y="742187"/>
            <a:chExt cx="1771650" cy="1344295"/>
          </a:xfrm>
        </p:grpSpPr>
        <p:pic>
          <p:nvPicPr>
            <p:cNvPr id="72" name="object 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64664" y="742187"/>
              <a:ext cx="1771650" cy="1344168"/>
            </a:xfrm>
            <a:prstGeom prst="rect">
              <a:avLst/>
            </a:prstGeom>
          </p:spPr>
        </p:pic>
        <p:pic>
          <p:nvPicPr>
            <p:cNvPr id="73" name="object 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09088" y="1096263"/>
              <a:ext cx="1098537" cy="727075"/>
            </a:xfrm>
            <a:prstGeom prst="rect">
              <a:avLst/>
            </a:prstGeom>
          </p:spPr>
        </p:pic>
        <p:sp>
          <p:nvSpPr>
            <p:cNvPr id="74" name="object 9"/>
            <p:cNvSpPr/>
            <p:nvPr/>
          </p:nvSpPr>
          <p:spPr>
            <a:xfrm>
              <a:off x="2564638" y="1047114"/>
              <a:ext cx="1187450" cy="821055"/>
            </a:xfrm>
            <a:custGeom>
              <a:avLst/>
              <a:gdLst/>
              <a:ahLst/>
              <a:cxnLst/>
              <a:rect l="l" t="t" r="r" b="b"/>
              <a:pathLst>
                <a:path w="1187450" h="821055">
                  <a:moveTo>
                    <a:pt x="210185" y="0"/>
                  </a:moveTo>
                  <a:lnTo>
                    <a:pt x="210185" y="4699"/>
                  </a:lnTo>
                  <a:lnTo>
                    <a:pt x="1187450" y="4699"/>
                  </a:lnTo>
                  <a:lnTo>
                    <a:pt x="1187450" y="657225"/>
                  </a:lnTo>
                  <a:lnTo>
                    <a:pt x="1174623" y="719582"/>
                  </a:lnTo>
                  <a:lnTo>
                    <a:pt x="1139063" y="772287"/>
                  </a:lnTo>
                  <a:lnTo>
                    <a:pt x="1086358" y="807847"/>
                  </a:lnTo>
                  <a:lnTo>
                    <a:pt x="1024127" y="820674"/>
                  </a:lnTo>
                  <a:lnTo>
                    <a:pt x="0" y="820674"/>
                  </a:lnTo>
                  <a:lnTo>
                    <a:pt x="0" y="168021"/>
                  </a:lnTo>
                  <a:lnTo>
                    <a:pt x="3175" y="136905"/>
                  </a:lnTo>
                  <a:lnTo>
                    <a:pt x="28193" y="77597"/>
                  </a:lnTo>
                  <a:lnTo>
                    <a:pt x="72898" y="32766"/>
                  </a:lnTo>
                  <a:lnTo>
                    <a:pt x="132334" y="7747"/>
                  </a:lnTo>
                  <a:lnTo>
                    <a:pt x="210185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10"/>
          <p:cNvGrpSpPr/>
          <p:nvPr/>
        </p:nvGrpSpPr>
        <p:grpSpPr>
          <a:xfrm>
            <a:off x="7315200" y="8801100"/>
            <a:ext cx="1066800" cy="1219200"/>
            <a:chOff x="4258055" y="627887"/>
            <a:chExt cx="1346835" cy="1458595"/>
          </a:xfrm>
        </p:grpSpPr>
        <p:pic>
          <p:nvPicPr>
            <p:cNvPr id="76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58055" y="627887"/>
              <a:ext cx="1346580" cy="1458468"/>
            </a:xfrm>
            <a:prstGeom prst="rect">
              <a:avLst/>
            </a:prstGeom>
          </p:spPr>
        </p:pic>
        <p:pic>
          <p:nvPicPr>
            <p:cNvPr id="77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02606" y="981836"/>
              <a:ext cx="672464" cy="830833"/>
            </a:xfrm>
            <a:prstGeom prst="rect">
              <a:avLst/>
            </a:prstGeom>
          </p:spPr>
        </p:pic>
        <p:sp>
          <p:nvSpPr>
            <p:cNvPr id="78" name="object 13"/>
            <p:cNvSpPr/>
            <p:nvPr/>
          </p:nvSpPr>
          <p:spPr>
            <a:xfrm>
              <a:off x="4558156" y="932560"/>
              <a:ext cx="761365" cy="924560"/>
            </a:xfrm>
            <a:custGeom>
              <a:avLst/>
              <a:gdLst/>
              <a:ahLst/>
              <a:cxnLst/>
              <a:rect l="l" t="t" r="r" b="b"/>
              <a:pathLst>
                <a:path w="761364" h="924560">
                  <a:moveTo>
                    <a:pt x="200913" y="0"/>
                  </a:moveTo>
                  <a:lnTo>
                    <a:pt x="200913" y="4825"/>
                  </a:lnTo>
                  <a:lnTo>
                    <a:pt x="761364" y="4825"/>
                  </a:lnTo>
                  <a:lnTo>
                    <a:pt x="761364" y="770254"/>
                  </a:lnTo>
                  <a:lnTo>
                    <a:pt x="749172" y="829055"/>
                  </a:lnTo>
                  <a:lnTo>
                    <a:pt x="715644" y="878840"/>
                  </a:lnTo>
                  <a:lnTo>
                    <a:pt x="665733" y="912495"/>
                  </a:lnTo>
                  <a:lnTo>
                    <a:pt x="607059" y="924559"/>
                  </a:lnTo>
                  <a:lnTo>
                    <a:pt x="0" y="924559"/>
                  </a:lnTo>
                  <a:lnTo>
                    <a:pt x="0" y="159003"/>
                  </a:lnTo>
                  <a:lnTo>
                    <a:pt x="2920" y="129794"/>
                  </a:lnTo>
                  <a:lnTo>
                    <a:pt x="26542" y="73659"/>
                  </a:lnTo>
                  <a:lnTo>
                    <a:pt x="68833" y="31369"/>
                  </a:lnTo>
                  <a:lnTo>
                    <a:pt x="124967" y="7747"/>
                  </a:lnTo>
                  <a:lnTo>
                    <a:pt x="200913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14"/>
          <p:cNvGrpSpPr/>
          <p:nvPr/>
        </p:nvGrpSpPr>
        <p:grpSpPr>
          <a:xfrm>
            <a:off x="9099116" y="8801206"/>
            <a:ext cx="1187884" cy="1219094"/>
            <a:chOff x="5742432" y="620267"/>
            <a:chExt cx="2076323" cy="1466087"/>
          </a:xfrm>
        </p:grpSpPr>
        <p:pic>
          <p:nvPicPr>
            <p:cNvPr id="80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42432" y="620267"/>
              <a:ext cx="2076323" cy="1466087"/>
            </a:xfrm>
            <a:prstGeom prst="rect">
              <a:avLst/>
            </a:prstGeom>
          </p:spPr>
        </p:pic>
        <p:pic>
          <p:nvPicPr>
            <p:cNvPr id="81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51057" y="924939"/>
              <a:ext cx="1401445" cy="892174"/>
            </a:xfrm>
            <a:prstGeom prst="rect">
              <a:avLst/>
            </a:prstGeom>
          </p:spPr>
        </p:pic>
        <p:sp>
          <p:nvSpPr>
            <p:cNvPr id="82" name="object 17"/>
            <p:cNvSpPr/>
            <p:nvPr/>
          </p:nvSpPr>
          <p:spPr>
            <a:xfrm>
              <a:off x="6043679" y="875791"/>
              <a:ext cx="1490345" cy="986155"/>
            </a:xfrm>
            <a:custGeom>
              <a:avLst/>
              <a:gdLst/>
              <a:ahLst/>
              <a:cxnLst/>
              <a:rect l="l" t="t" r="r" b="b"/>
              <a:pathLst>
                <a:path w="1490345" h="986155">
                  <a:moveTo>
                    <a:pt x="237616" y="0"/>
                  </a:moveTo>
                  <a:lnTo>
                    <a:pt x="237616" y="4699"/>
                  </a:lnTo>
                  <a:lnTo>
                    <a:pt x="1490345" y="4699"/>
                  </a:lnTo>
                  <a:lnTo>
                    <a:pt x="1490345" y="794893"/>
                  </a:lnTo>
                  <a:lnTo>
                    <a:pt x="1475358" y="867918"/>
                  </a:lnTo>
                  <a:lnTo>
                    <a:pt x="1433956" y="929386"/>
                  </a:lnTo>
                  <a:lnTo>
                    <a:pt x="1372489" y="970788"/>
                  </a:lnTo>
                  <a:lnTo>
                    <a:pt x="1336040" y="982091"/>
                  </a:lnTo>
                  <a:lnTo>
                    <a:pt x="1299464" y="985774"/>
                  </a:lnTo>
                  <a:lnTo>
                    <a:pt x="0" y="985774"/>
                  </a:lnTo>
                  <a:lnTo>
                    <a:pt x="0" y="195580"/>
                  </a:lnTo>
                  <a:lnTo>
                    <a:pt x="3683" y="159003"/>
                  </a:lnTo>
                  <a:lnTo>
                    <a:pt x="32765" y="89789"/>
                  </a:lnTo>
                  <a:lnTo>
                    <a:pt x="84962" y="37592"/>
                  </a:lnTo>
                  <a:lnTo>
                    <a:pt x="154304" y="8382"/>
                  </a:lnTo>
                  <a:lnTo>
                    <a:pt x="237616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3" name="object 18"/>
          <p:cNvGrpSpPr/>
          <p:nvPr/>
        </p:nvGrpSpPr>
        <p:grpSpPr>
          <a:xfrm>
            <a:off x="10134600" y="8724900"/>
            <a:ext cx="1066800" cy="1295400"/>
            <a:chOff x="8042147" y="620267"/>
            <a:chExt cx="1581150" cy="1466215"/>
          </a:xfrm>
        </p:grpSpPr>
        <p:pic>
          <p:nvPicPr>
            <p:cNvPr id="84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42147" y="620267"/>
              <a:ext cx="1581150" cy="1466087"/>
            </a:xfrm>
            <a:prstGeom prst="rect">
              <a:avLst/>
            </a:prstGeom>
          </p:spPr>
        </p:pic>
        <p:pic>
          <p:nvPicPr>
            <p:cNvPr id="85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386571" y="962919"/>
              <a:ext cx="894662" cy="852164"/>
            </a:xfrm>
            <a:prstGeom prst="rect">
              <a:avLst/>
            </a:prstGeom>
          </p:spPr>
        </p:pic>
        <p:sp>
          <p:nvSpPr>
            <p:cNvPr id="86" name="object 21"/>
            <p:cNvSpPr/>
            <p:nvPr/>
          </p:nvSpPr>
          <p:spPr>
            <a:xfrm>
              <a:off x="8342121" y="913764"/>
              <a:ext cx="996950" cy="946150"/>
            </a:xfrm>
            <a:custGeom>
              <a:avLst/>
              <a:gdLst/>
              <a:ahLst/>
              <a:cxnLst/>
              <a:rect l="l" t="t" r="r" b="b"/>
              <a:pathLst>
                <a:path w="996950" h="946150">
                  <a:moveTo>
                    <a:pt x="231012" y="0"/>
                  </a:moveTo>
                  <a:lnTo>
                    <a:pt x="231012" y="4699"/>
                  </a:lnTo>
                  <a:lnTo>
                    <a:pt x="996950" y="4699"/>
                  </a:lnTo>
                  <a:lnTo>
                    <a:pt x="996950" y="761492"/>
                  </a:lnTo>
                  <a:lnTo>
                    <a:pt x="982472" y="831976"/>
                  </a:lnTo>
                  <a:lnTo>
                    <a:pt x="942467" y="891286"/>
                  </a:lnTo>
                  <a:lnTo>
                    <a:pt x="883157" y="931291"/>
                  </a:lnTo>
                  <a:lnTo>
                    <a:pt x="812673" y="945769"/>
                  </a:lnTo>
                  <a:lnTo>
                    <a:pt x="0" y="945769"/>
                  </a:lnTo>
                  <a:lnTo>
                    <a:pt x="0" y="188975"/>
                  </a:lnTo>
                  <a:lnTo>
                    <a:pt x="3555" y="153670"/>
                  </a:lnTo>
                  <a:lnTo>
                    <a:pt x="31750" y="86741"/>
                  </a:lnTo>
                  <a:lnTo>
                    <a:pt x="82169" y="36449"/>
                  </a:lnTo>
                  <a:lnTo>
                    <a:pt x="148971" y="8254"/>
                  </a:lnTo>
                  <a:lnTo>
                    <a:pt x="231012" y="0"/>
                  </a:lnTo>
                  <a:close/>
                </a:path>
              </a:pathLst>
            </a:custGeom>
            <a:ln w="888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7" name="object 22"/>
          <p:cNvGrpSpPr/>
          <p:nvPr/>
        </p:nvGrpSpPr>
        <p:grpSpPr>
          <a:xfrm>
            <a:off x="8153400" y="8801100"/>
            <a:ext cx="1143000" cy="1219200"/>
            <a:chOff x="9845040" y="620267"/>
            <a:chExt cx="1621155" cy="1466215"/>
          </a:xfrm>
        </p:grpSpPr>
        <p:pic>
          <p:nvPicPr>
            <p:cNvPr id="88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845040" y="620267"/>
              <a:ext cx="1620774" cy="1466087"/>
            </a:xfrm>
            <a:prstGeom prst="rect">
              <a:avLst/>
            </a:prstGeom>
          </p:spPr>
        </p:pic>
        <p:pic>
          <p:nvPicPr>
            <p:cNvPr id="89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189591" y="943990"/>
              <a:ext cx="947902" cy="883920"/>
            </a:xfrm>
            <a:prstGeom prst="rect">
              <a:avLst/>
            </a:prstGeom>
          </p:spPr>
        </p:pic>
        <p:sp>
          <p:nvSpPr>
            <p:cNvPr id="90" name="object 25"/>
            <p:cNvSpPr/>
            <p:nvPr/>
          </p:nvSpPr>
          <p:spPr>
            <a:xfrm>
              <a:off x="10145141" y="894841"/>
              <a:ext cx="1036955" cy="977900"/>
            </a:xfrm>
            <a:custGeom>
              <a:avLst/>
              <a:gdLst/>
              <a:ahLst/>
              <a:cxnLst/>
              <a:rect l="l" t="t" r="r" b="b"/>
              <a:pathLst>
                <a:path w="1036954" h="977900">
                  <a:moveTo>
                    <a:pt x="236219" y="0"/>
                  </a:moveTo>
                  <a:lnTo>
                    <a:pt x="236219" y="4699"/>
                  </a:lnTo>
                  <a:lnTo>
                    <a:pt x="1036827" y="4699"/>
                  </a:lnTo>
                  <a:lnTo>
                    <a:pt x="1036827" y="788035"/>
                  </a:lnTo>
                  <a:lnTo>
                    <a:pt x="1021968" y="860425"/>
                  </a:lnTo>
                  <a:lnTo>
                    <a:pt x="980820" y="921512"/>
                  </a:lnTo>
                  <a:lnTo>
                    <a:pt x="919733" y="962660"/>
                  </a:lnTo>
                  <a:lnTo>
                    <a:pt x="847343" y="977519"/>
                  </a:lnTo>
                  <a:lnTo>
                    <a:pt x="0" y="977519"/>
                  </a:lnTo>
                  <a:lnTo>
                    <a:pt x="0" y="194183"/>
                  </a:lnTo>
                  <a:lnTo>
                    <a:pt x="3682" y="157861"/>
                  </a:lnTo>
                  <a:lnTo>
                    <a:pt x="32638" y="89153"/>
                  </a:lnTo>
                  <a:lnTo>
                    <a:pt x="84454" y="37338"/>
                  </a:lnTo>
                  <a:lnTo>
                    <a:pt x="153161" y="8382"/>
                  </a:lnTo>
                  <a:lnTo>
                    <a:pt x="236219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" name="object 26"/>
          <p:cNvGrpSpPr/>
          <p:nvPr/>
        </p:nvGrpSpPr>
        <p:grpSpPr>
          <a:xfrm>
            <a:off x="11049000" y="8953500"/>
            <a:ext cx="1219200" cy="990600"/>
            <a:chOff x="11704319" y="620267"/>
            <a:chExt cx="2846070" cy="1466215"/>
          </a:xfrm>
        </p:grpSpPr>
        <p:pic>
          <p:nvPicPr>
            <p:cNvPr id="92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704319" y="620267"/>
              <a:ext cx="2845943" cy="1466087"/>
            </a:xfrm>
            <a:prstGeom prst="rect">
              <a:avLst/>
            </a:prstGeom>
          </p:spPr>
        </p:pic>
        <p:pic>
          <p:nvPicPr>
            <p:cNvPr id="93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049886" y="886840"/>
              <a:ext cx="2171446" cy="935990"/>
            </a:xfrm>
            <a:prstGeom prst="rect">
              <a:avLst/>
            </a:prstGeom>
          </p:spPr>
        </p:pic>
        <p:sp>
          <p:nvSpPr>
            <p:cNvPr id="94" name="object 29"/>
            <p:cNvSpPr/>
            <p:nvPr/>
          </p:nvSpPr>
          <p:spPr>
            <a:xfrm>
              <a:off x="12005436" y="837691"/>
              <a:ext cx="2260600" cy="1029969"/>
            </a:xfrm>
            <a:custGeom>
              <a:avLst/>
              <a:gdLst/>
              <a:ahLst/>
              <a:cxnLst/>
              <a:rect l="l" t="t" r="r" b="b"/>
              <a:pathLst>
                <a:path w="2260600" h="1029969">
                  <a:moveTo>
                    <a:pt x="244856" y="0"/>
                  </a:moveTo>
                  <a:lnTo>
                    <a:pt x="244856" y="4699"/>
                  </a:lnTo>
                  <a:lnTo>
                    <a:pt x="2260346" y="4699"/>
                  </a:lnTo>
                  <a:lnTo>
                    <a:pt x="2260346" y="831342"/>
                  </a:lnTo>
                  <a:lnTo>
                    <a:pt x="2256536" y="869442"/>
                  </a:lnTo>
                  <a:lnTo>
                    <a:pt x="2244852" y="907161"/>
                  </a:lnTo>
                  <a:lnTo>
                    <a:pt x="2226309" y="941324"/>
                  </a:lnTo>
                  <a:lnTo>
                    <a:pt x="2201799" y="971042"/>
                  </a:lnTo>
                  <a:lnTo>
                    <a:pt x="2172207" y="995426"/>
                  </a:lnTo>
                  <a:lnTo>
                    <a:pt x="2138045" y="1013968"/>
                  </a:lnTo>
                  <a:lnTo>
                    <a:pt x="2100326" y="1025778"/>
                  </a:lnTo>
                  <a:lnTo>
                    <a:pt x="2062226" y="1029589"/>
                  </a:lnTo>
                  <a:lnTo>
                    <a:pt x="0" y="1029589"/>
                  </a:lnTo>
                  <a:lnTo>
                    <a:pt x="0" y="202946"/>
                  </a:lnTo>
                  <a:lnTo>
                    <a:pt x="3810" y="164719"/>
                  </a:lnTo>
                  <a:lnTo>
                    <a:pt x="15494" y="127000"/>
                  </a:lnTo>
                  <a:lnTo>
                    <a:pt x="34036" y="92964"/>
                  </a:lnTo>
                  <a:lnTo>
                    <a:pt x="58547" y="63246"/>
                  </a:lnTo>
                  <a:lnTo>
                    <a:pt x="88138" y="38735"/>
                  </a:lnTo>
                  <a:lnTo>
                    <a:pt x="122301" y="20193"/>
                  </a:lnTo>
                  <a:lnTo>
                    <a:pt x="160020" y="8509"/>
                  </a:lnTo>
                  <a:lnTo>
                    <a:pt x="244856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Picture 4"/>
          <p:cNvPicPr/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53500" y="4953000"/>
            <a:ext cx="381000" cy="381000"/>
          </a:xfrm>
          <a:prstGeom prst="rect">
            <a:avLst/>
          </a:prstGeom>
        </p:spPr>
      </p:pic>
      <p:pic>
        <p:nvPicPr>
          <p:cNvPr id="14" name="Picture 13" descr="what-is-supply-sustainable-development-goals"/>
          <p:cNvPicPr>
            <a:picLocks noChangeAspect="1"/>
          </p:cNvPicPr>
          <p:nvPr/>
        </p:nvPicPr>
        <p:blipFill>
          <a:blip r:embed="rId22"/>
          <a:srcRect l="84667" b="70057"/>
          <a:stretch>
            <a:fillRect/>
          </a:stretch>
        </p:blipFill>
        <p:spPr>
          <a:xfrm>
            <a:off x="533400" y="7200900"/>
            <a:ext cx="1087120" cy="1089025"/>
          </a:xfrm>
          <a:prstGeom prst="rect">
            <a:avLst/>
          </a:prstGeom>
        </p:spPr>
      </p:pic>
      <p:pic>
        <p:nvPicPr>
          <p:cNvPr id="16" name="Picture 15" descr="what-is-supply-sustainable-development-goals"/>
          <p:cNvPicPr>
            <a:picLocks noChangeAspect="1"/>
          </p:cNvPicPr>
          <p:nvPr/>
        </p:nvPicPr>
        <p:blipFill>
          <a:blip r:embed="rId22"/>
          <a:srcRect l="17607" t="69700" r="67993" b="-2271"/>
          <a:stretch>
            <a:fillRect/>
          </a:stretch>
        </p:blipFill>
        <p:spPr>
          <a:xfrm>
            <a:off x="3124200" y="7200900"/>
            <a:ext cx="1097915" cy="1159510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23"/>
          <a:srcRect l="5238" r="3972"/>
          <a:stretch>
            <a:fillRect/>
          </a:stretch>
        </p:blipFill>
        <p:spPr>
          <a:xfrm>
            <a:off x="13182600" y="2857500"/>
            <a:ext cx="3962400" cy="19297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2534</Words>
  <Application>WPS Presentation</Application>
  <PresentationFormat>Custom</PresentationFormat>
  <Paragraphs>87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Calibri</vt:lpstr>
      <vt:lpstr>Barlow</vt:lpstr>
      <vt:lpstr>Segoe Print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Geometric Project Presentation</dc:title>
  <dc:creator>M ROHITH</dc:creator>
  <cp:lastModifiedBy>Architha Rampalli</cp:lastModifiedBy>
  <cp:revision>22</cp:revision>
  <dcterms:created xsi:type="dcterms:W3CDTF">2006-08-16T00:00:00Z</dcterms:created>
  <dcterms:modified xsi:type="dcterms:W3CDTF">2025-11-11T10:43:55Z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4D60DE4B85DE4F06A6AE9EFAA5FD85D0_13</vt:lpwstr>
  </property>
  <property fmtid="{D5CDD505-2E9C-101B-9397-08002B2CF9AE}" pid="3" name="KSOProductBuildVer">
    <vt:lpwstr>1033-12.2.0.23155</vt:lpwstr>
  </property>
</Properties>
</file>